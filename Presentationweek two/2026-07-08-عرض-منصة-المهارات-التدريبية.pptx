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التوزيع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3A66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2C6E4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تحليل المنهج</c:v>
                </c:pt>
                <c:pt idx="1">
                  <c:v>التقويم والتقرير</c:v>
                </c:pt>
                <c:pt idx="2">
                  <c:v>الرقمنة (الموقع)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&#1571;&#1593;&#1605;&#1575;&#1604;-&#1575;&#1604;&#1601;&#1585;&#1610;&#1602;/&#1578;&#1581;&#1604;&#1610;&#1604;-&#1575;&#1604;&#1605;&#1606;&#1607;&#1580;.html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&#1571;&#1593;&#1605;&#1575;&#1604;-&#1575;&#1604;&#1601;&#1585;&#1610;&#1602;/&#1578;&#1602;&#1585;&#1610;&#1585;-&#1578;&#1581;&#1604;&#1610;&#1604;-&#1575;&#1604;&#1605;&#1606;&#1607;&#1580;.pdf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&#1571;&#1593;&#1605;&#1575;&#1604;-&#1575;&#1604;&#1601;&#1585;&#1610;&#1602;/&#1575;&#1604;&#1605;&#1606;&#1589;&#1577;-&#1575;&#1604;&#1578;&#1601;&#1575;&#1593;&#1604;&#1610;&#1577;.html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&#1571;&#1593;&#1605;&#1575;&#1604;-&#1575;&#1604;&#1601;&#1585;&#1610;&#1602;/&#1575;&#1604;&#1587;&#1610;&#1606;&#1575;&#1585;&#1610;&#1608;-&#1575;&#1604;&#1578;&#1593;&#1604;&#1610;&#1605;&#1610;.pdf" TargetMode="External"/><Relationship Id="rId3" Type="http://schemas.openxmlformats.org/officeDocument/2006/relationships/hyperlink" Target="&#1571;&#1593;&#1605;&#1575;&#1604;-&#1575;&#1604;&#1601;&#1585;&#1610;&#1602;/&#1578;&#1581;&#1604;&#1610;&#1604;-&#1575;&#1604;&#1605;&#1606;&#1607;&#1580;.html" TargetMode="External"/><Relationship Id="rId4" Type="http://schemas.openxmlformats.org/officeDocument/2006/relationships/hyperlink" Target="&#1571;&#1593;&#1605;&#1575;&#1604;-&#1575;&#1604;&#1601;&#1585;&#1610;&#1602;/&#1578;&#1602;&#1585;&#1610;&#1585;-&#1578;&#1581;&#1604;&#1610;&#1604;-&#1575;&#1604;&#1605;&#1606;&#1607;&#1580;.pdf" TargetMode="External"/><Relationship Id="rId5" Type="http://schemas.openxmlformats.org/officeDocument/2006/relationships/hyperlink" Target="&#1571;&#1593;&#1605;&#1575;&#1604;-&#1575;&#1604;&#1601;&#1585;&#1610;&#1602;/&#1575;&#1604;&#1605;&#1606;&#1589;&#1577;-&#1575;&#1604;&#1578;&#1601;&#1575;&#1593;&#1604;&#1610;&#1577;.html" TargetMode="External"/><Relationship Id="rId1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848" y="411480"/>
            <a:ext cx="22860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91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spc="100" kern="0" dirty="0">
                <a:solidFill>
                  <a:srgbClr val="E3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ملخّص أعمال الأسبوع · يوليو ٢٠٢٦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37033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تدريب طلبة تخصص تكنولوجيا التعليم والتعلّم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4617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7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البحرية السلطانية العُمانية · قسم تطوير المناهج · مدة البرنامج أسبوع واحد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40968" y="52578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0968" y="5257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مازن بن خالد القنوبي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87088" y="52578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87088" y="5257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سالم بن سليمان السهي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33208" y="52578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3208" y="5257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الحسين بن علي الجهوري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نبذة عن البرنامج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فعلنا خلال الأسبوع؟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تدرّبنا في قسم تطوير المناهج على ثلاث مهارات: نحلّل المنهج، ثم نقوّمه ونكتب عنه تقريرًا، ثم نحوّله إلى محتوى إلكتروني تفاعلي. وأنتجنا أربعة أعمال حقيقية نعرضها.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68880"/>
            <a:ext cx="262501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2606040"/>
            <a:ext cx="26250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D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2625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مدة البرنامج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6534" y="2468880"/>
            <a:ext cx="262501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56534" y="2606040"/>
            <a:ext cx="26250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D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٧:٣٠ – ١٢:٠٠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356534" y="3200400"/>
            <a:ext cx="2625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الدوام اليومي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0148" y="2468880"/>
            <a:ext cx="262501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0148" y="2606040"/>
            <a:ext cx="26250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D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210148" y="3200400"/>
            <a:ext cx="2625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مكتملة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63761" y="2468880"/>
            <a:ext cx="262501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63761" y="2606040"/>
            <a:ext cx="26250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D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063761" y="3200400"/>
            <a:ext cx="2625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إطارًا تعليميًا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977640"/>
            <a:ext cx="5715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التفاعلي للمنهج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قراءة المنهج وتفكيك مكوّناته.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الرسمي (PDF)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تقييم المنهج وتوصيات بلغة مهنية.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التفاعلي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تحويل المنهج إلى دروس رقمية.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السيناريو التعليمي (PDF)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خطة كل درس شاشةً بشاشة.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" y="3977640"/>
            <a:ext cx="512064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graphicFrame>
        <p:nvGraphicFramePr>
          <p:cNvPr id="20" name="Chart 0" descr=""/>
          <p:cNvGraphicFramePr/>
          <p:nvPr/>
        </p:nvGraphicFramePr>
        <p:xfrm>
          <a:off x="640080" y="4114800"/>
          <a:ext cx="4846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محور عملنا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ركّزنا على أهداف البرنامج الثلاثة الأولى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عمل أنجزناه يخدم هدفًا واضحًا من أهداف البرنامج. هذه هي الأهداف الثلاثة التي بنينا عليها الأسبوع كلّه.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73517" y="251460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45775" y="27889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45775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402117" y="37033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المناهج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02117" y="4297680"/>
            <a:ext cx="30580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نقرأ المنهج ونفهم مكوّناته: الأهداف، والمحتوى، وطرائق التدريس والأنشطة، والتقويم.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8218" y="251460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10477" y="27889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10477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66818" y="37033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 وكتابة التقارير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566818" y="4297680"/>
            <a:ext cx="30580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نحكم على جودة المنهج، ونكتشف نقاط قوّته وما يحتاج تحسينًا، ونوثّقه في تقرير مهني.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51460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75178" y="27889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5178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31520" y="37033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رقمنة المناهج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30580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نحوّل المنهج الورقي إلى محتوى إلكتروني تفاعلي: موقع فيه دروس وأنشطة واختبارات.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20095" y="5029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3C566"/>
          </a:solidFill>
          <a:ln w="12700">
            <a:solidFill>
              <a:srgbClr val="A5851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820095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54864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الأول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885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المناهج التدريبية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ببساطة: أن نقرأ المنهج بعناية ونفهم من ماذا يتكوّن، قبل أن نحكم عليه أو نطوّره.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2651760"/>
            <a:ext cx="7223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قرأنا المنهج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منهج «تصميم التدريب» بالبحرية السلطانية العُمانية.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فكّكنا مكوّناته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الأهداف، والمحتوى، والأنشطة، وطريقة التقويم.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عرضناه بشكل بصري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صفحة تفاعلية تسهّل فهم التحليل.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651760"/>
            <a:ext cx="36576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" y="28529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المرتبط بهذا الهدف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" y="3200400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التفاعلي للمنهج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952" y="393192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ويب تعرض قراءتنا للمنهج وتفكيك عناصره الأربعة.</a:t>
            </a:r>
            <a:endParaRPr lang="en-US" sz="1300" dirty="0"/>
          </a:p>
        </p:txBody>
      </p:sp>
      <p:sp>
        <p:nvSpPr>
          <p:cNvPr id="13" name="Text 10">
            <a:hlinkClick r:id="rId2" tooltip=""/>
          </p:cNvPr>
          <p:cNvSpPr/>
          <p:nvPr/>
        </p:nvSpPr>
        <p:spPr>
          <a:xfrm>
            <a:off x="758952" y="5212080"/>
            <a:ext cx="3145536" cy="502920"/>
          </a:xfrm>
          <a:prstGeom prst="roundRect">
            <a:avLst>
              <a:gd name="adj" fmla="val 18182"/>
            </a:avLst>
          </a:prstGeom>
          <a:solidFill>
            <a:srgbClr val="E3C5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u="sng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التحليل   ↗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20095" y="5029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3C566"/>
          </a:solidFill>
          <a:ln w="12700">
            <a:solidFill>
              <a:srgbClr val="A5851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820095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54864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الثاني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885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تقويم المنهج وكتابة تقرير مهني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أن فهمنا المنهج، حكمنا على جودته: ما الذي يعمل جيدًا؟ وما الذي يمكن تحسينه؟ ثم كتبنا ذلك في تقرير رسمي.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2651760"/>
            <a:ext cx="7223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حدّدنا نقاط القوة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الأجزاء الجيدة التي نبني عليها.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حدّدنا فرص التحسين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ما ينقص المنهج أو يحتاج تطويرًا.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كتبنا تقريرًا مهنيًا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بمعايير علمية (تايلر، ميجر، بلوم) وتوصيات واضحة.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651760"/>
            <a:ext cx="36576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" y="28529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المرتبط بهذا الهدف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" y="3200400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الرسمي — ملف PDF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952" y="393192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أكاديمي كامل يصف المنهج ويقوّمه وينتهي بتوصيات.</a:t>
            </a:r>
            <a:endParaRPr lang="en-US" sz="1300" dirty="0"/>
          </a:p>
        </p:txBody>
      </p:sp>
      <p:sp>
        <p:nvSpPr>
          <p:cNvPr id="13" name="Text 10">
            <a:hlinkClick r:id="rId2" tooltip=""/>
          </p:cNvPr>
          <p:cNvSpPr/>
          <p:nvPr/>
        </p:nvSpPr>
        <p:spPr>
          <a:xfrm>
            <a:off x="758952" y="5212080"/>
            <a:ext cx="3145536" cy="502920"/>
          </a:xfrm>
          <a:prstGeom prst="roundRect">
            <a:avLst>
              <a:gd name="adj" fmla="val 18182"/>
            </a:avLst>
          </a:prstGeom>
          <a:solidFill>
            <a:srgbClr val="E3C5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u="sng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التقرير   ↗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20095" y="5029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3C566"/>
          </a:solidFill>
          <a:ln w="12700">
            <a:solidFill>
              <a:srgbClr val="A5851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820095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54864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الثالث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0885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رقمنة المنهج وتحويله إلى موقع تفاعلي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حوّلنا المنهج من ورق إلى موقع تفاعلي: دروس فيها شرح وفيديو وألعاب واختبارات وشهادة في النهاية.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2651760"/>
            <a:ext cx="7223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درسان كاملان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إدارة بيئة التدريب، وأسلوب الحوار والمناقشة.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عناصر تفاعلية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شرائح، وفيديو، ولعبة، ومحاكاة، ومواقف عملية.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وشهادة  </a:t>
            </a:r>
            <a:pPr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يقيس التعلّم، ويحفظ التقدّم، ويصدر شهادة.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651760"/>
            <a:ext cx="36576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" y="28529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المرتبط بهذا الهدف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" y="3200400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التفاعلي (الكتاب الإلكتروني)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952" y="393192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 الناتج النهائي للرقمنة. اضغط لتجرّبه مباشرة.</a:t>
            </a:r>
            <a:endParaRPr lang="en-US" sz="1300" dirty="0"/>
          </a:p>
        </p:txBody>
      </p:sp>
      <p:sp>
        <p:nvSpPr>
          <p:cNvPr id="13" name="Text 10">
            <a:hlinkClick r:id="rId2" tooltip=""/>
          </p:cNvPr>
          <p:cNvSpPr/>
          <p:nvPr/>
        </p:nvSpPr>
        <p:spPr>
          <a:xfrm>
            <a:off x="758952" y="5212080"/>
            <a:ext cx="3145536" cy="502920"/>
          </a:xfrm>
          <a:prstGeom prst="roundRect">
            <a:avLst>
              <a:gd name="adj" fmla="val 18182"/>
            </a:avLst>
          </a:prstGeom>
          <a:solidFill>
            <a:srgbClr val="E3C5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u="sng" dirty="0">
                <a:solidFill>
                  <a:srgbClr val="0C1B3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الموقع   ↗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الأعمال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أعمالنا الأربعة — اضغط لتفتحها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الأعمال جاهزة للعرض المباشر. اضغط زر «فتح» في أي بطاقة لتشاهد العمل كاملًا.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68880"/>
            <a:ext cx="2590724" cy="3657600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70684" y="265176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3200400"/>
            <a:ext cx="21883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التخطيط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" y="3474720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السيناريو التعليمي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04088" y="4114800"/>
            <a:ext cx="21883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الدروس شاشةً بشاشة: النص، والصوت، والعناصر التفاعلية.</a:t>
            </a:r>
            <a:endParaRPr lang="en-US" sz="12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704088" y="5504688"/>
            <a:ext cx="2188388" cy="457200"/>
          </a:xfrm>
          <a:prstGeom prst="roundRect">
            <a:avLst>
              <a:gd name="adj" fmla="val 18000"/>
            </a:avLst>
          </a:prstGeom>
          <a:solidFill>
            <a:srgbClr val="1D3A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فتح السيناريو   ↗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67964" y="2468880"/>
            <a:ext cx="2590724" cy="3657600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35728" y="2651760"/>
            <a:ext cx="457200" cy="45720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14" name="Text 11"/>
          <p:cNvSpPr/>
          <p:nvPr/>
        </p:nvSpPr>
        <p:spPr>
          <a:xfrm>
            <a:off x="3569132" y="3200400"/>
            <a:ext cx="21883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١ · تحليل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9132" y="3474720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التفاعلي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569132" y="4114800"/>
            <a:ext cx="21883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تعرض قراءة المنهج وتفكيك عناصره الأربعة بصريًا.</a:t>
            </a:r>
            <a:endParaRPr lang="en-US" sz="1200" dirty="0"/>
          </a:p>
        </p:txBody>
      </p:sp>
      <p:sp>
        <p:nvSpPr>
          <p:cNvPr id="17" name="Text 14">
            <a:hlinkClick r:id="rId3" tooltip=""/>
          </p:cNvPr>
          <p:cNvSpPr/>
          <p:nvPr/>
        </p:nvSpPr>
        <p:spPr>
          <a:xfrm>
            <a:off x="3569132" y="5504688"/>
            <a:ext cx="2188388" cy="457200"/>
          </a:xfrm>
          <a:prstGeom prst="roundRect">
            <a:avLst>
              <a:gd name="adj" fmla="val 18000"/>
            </a:avLst>
          </a:prstGeom>
          <a:solidFill>
            <a:srgbClr val="1D3A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فتح التحليل   ↗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33008" y="2468880"/>
            <a:ext cx="2590724" cy="3657600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00771" y="2651760"/>
            <a:ext cx="457200" cy="457200"/>
          </a:xfrm>
          <a:prstGeom prst="ellipse">
            <a:avLst/>
          </a:prstGeom>
          <a:solidFill>
            <a:srgbClr val="A5851C"/>
          </a:solidFill>
          <a:ln/>
        </p:spPr>
      </p:sp>
      <p:sp>
        <p:nvSpPr>
          <p:cNvPr id="20" name="Text 17"/>
          <p:cNvSpPr/>
          <p:nvPr/>
        </p:nvSpPr>
        <p:spPr>
          <a:xfrm>
            <a:off x="6434176" y="3200400"/>
            <a:ext cx="21883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٢ · تقرير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34176" y="3474720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الرسمي (PDF)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434176" y="4114800"/>
            <a:ext cx="21883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أكاديمي يقوّم المنهج بمعايير علمية وينتهي بتوصيات.</a:t>
            </a:r>
            <a:endParaRPr lang="en-US" sz="1200" dirty="0"/>
          </a:p>
        </p:txBody>
      </p:sp>
      <p:sp>
        <p:nvSpPr>
          <p:cNvPr id="23" name="Text 20">
            <a:hlinkClick r:id="rId4" tooltip=""/>
          </p:cNvPr>
          <p:cNvSpPr/>
          <p:nvPr/>
        </p:nvSpPr>
        <p:spPr>
          <a:xfrm>
            <a:off x="6434176" y="5504688"/>
            <a:ext cx="2188388" cy="457200"/>
          </a:xfrm>
          <a:prstGeom prst="roundRect">
            <a:avLst>
              <a:gd name="adj" fmla="val 18000"/>
            </a:avLst>
          </a:prstGeom>
          <a:solidFill>
            <a:srgbClr val="1D3A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فتح التقرير   ↗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098051" y="2468880"/>
            <a:ext cx="2590724" cy="3657600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865815" y="265176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6" name="Text 23"/>
          <p:cNvSpPr/>
          <p:nvPr/>
        </p:nvSpPr>
        <p:spPr>
          <a:xfrm>
            <a:off x="9299219" y="3200400"/>
            <a:ext cx="21883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٣ · رقمنة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99219" y="3474720"/>
            <a:ext cx="21883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التفاعلي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9299219" y="4114800"/>
            <a:ext cx="21883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درسان فيهما شرح وفيديو وألعاب واختبارات وشهادة.</a:t>
            </a:r>
            <a:endParaRPr lang="en-US" sz="1200" dirty="0"/>
          </a:p>
        </p:txBody>
      </p:sp>
      <p:sp>
        <p:nvSpPr>
          <p:cNvPr id="29" name="Text 26">
            <a:hlinkClick r:id="rId5" tooltip=""/>
          </p:cNvPr>
          <p:cNvSpPr/>
          <p:nvPr/>
        </p:nvSpPr>
        <p:spPr>
          <a:xfrm>
            <a:off x="9299219" y="5504688"/>
            <a:ext cx="2188388" cy="457200"/>
          </a:xfrm>
          <a:prstGeom prst="roundRect">
            <a:avLst>
              <a:gd name="adj" fmla="val 18000"/>
            </a:avLst>
          </a:prstGeom>
          <a:solidFill>
            <a:srgbClr val="1D3A66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فتح الموقع   ↗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68580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A58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الأسبوع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سار العمل يومًا بيوم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656430" y="1965960"/>
            <a:ext cx="2032345" cy="329184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85030" y="2194560"/>
            <a:ext cx="1575145" cy="457200"/>
          </a:xfrm>
          <a:prstGeom prst="roundRect">
            <a:avLst>
              <a:gd name="adj" fmla="val 50000"/>
            </a:avLst>
          </a:prstGeom>
          <a:solidFill>
            <a:srgbClr val="1D3A66"/>
          </a:solidFill>
          <a:ln/>
        </p:spPr>
      </p:sp>
      <p:sp>
        <p:nvSpPr>
          <p:cNvPr id="7" name="Text 4"/>
          <p:cNvSpPr/>
          <p:nvPr/>
        </p:nvSpPr>
        <p:spPr>
          <a:xfrm>
            <a:off x="9885030" y="2194560"/>
            <a:ext cx="15751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١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9310" y="2788920"/>
            <a:ext cx="16665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التعرّف والتحليل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39310" y="3474720"/>
            <a:ext cx="166658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تعرّفنا على القسم وبدأنا تحليل المنهج.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8052" y="1965960"/>
            <a:ext cx="2032345" cy="329184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96652" y="2194560"/>
            <a:ext cx="1575145" cy="457200"/>
          </a:xfrm>
          <a:prstGeom prst="roundRect">
            <a:avLst>
              <a:gd name="adj" fmla="val 50000"/>
            </a:avLst>
          </a:prstGeom>
          <a:solidFill>
            <a:srgbClr val="2F8FA6"/>
          </a:solidFill>
          <a:ln/>
        </p:spPr>
      </p:sp>
      <p:sp>
        <p:nvSpPr>
          <p:cNvPr id="12" name="Text 9"/>
          <p:cNvSpPr/>
          <p:nvPr/>
        </p:nvSpPr>
        <p:spPr>
          <a:xfrm>
            <a:off x="7596652" y="2194560"/>
            <a:ext cx="15751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٢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50932" y="2788920"/>
            <a:ext cx="16665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السيناريو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50932" y="3474720"/>
            <a:ext cx="166658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صمّمنا سيناريو تعليمي تفاعلي متكامل.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9675" y="1965960"/>
            <a:ext cx="2032345" cy="329184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8275" y="2194560"/>
            <a:ext cx="1575145" cy="457200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</p:sp>
      <p:sp>
        <p:nvSpPr>
          <p:cNvPr id="17" name="Text 14"/>
          <p:cNvSpPr/>
          <p:nvPr/>
        </p:nvSpPr>
        <p:spPr>
          <a:xfrm>
            <a:off x="5308275" y="2194560"/>
            <a:ext cx="15751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اليومان ٣ و٤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62555" y="2788920"/>
            <a:ext cx="16665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الرقمنة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62555" y="3474720"/>
            <a:ext cx="166658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حوّلنا المحتوى إلى موقع رقمي بالوسائط.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91297" y="1965960"/>
            <a:ext cx="2032345" cy="329184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019897" y="2194560"/>
            <a:ext cx="1575145" cy="457200"/>
          </a:xfrm>
          <a:prstGeom prst="roundRect">
            <a:avLst>
              <a:gd name="adj" fmla="val 50000"/>
            </a:avLst>
          </a:prstGeom>
          <a:solidFill>
            <a:srgbClr val="A5851C"/>
          </a:solidFill>
          <a:ln/>
        </p:spPr>
      </p:sp>
      <p:sp>
        <p:nvSpPr>
          <p:cNvPr id="22" name="Text 19"/>
          <p:cNvSpPr/>
          <p:nvPr/>
        </p:nvSpPr>
        <p:spPr>
          <a:xfrm>
            <a:off x="3019897" y="2194560"/>
            <a:ext cx="15751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٥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974177" y="2788920"/>
            <a:ext cx="16665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الختامي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974177" y="3474720"/>
            <a:ext cx="166658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عرضنا المشروع وناقشناه وقيّمناه.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1965960"/>
            <a:ext cx="2032345" cy="329184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8899BB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" y="2194560"/>
            <a:ext cx="1575145" cy="457200"/>
          </a:xfrm>
          <a:prstGeom prst="roundRect">
            <a:avLst>
              <a:gd name="adj" fmla="val 50000"/>
            </a:avLst>
          </a:prstGeom>
          <a:solidFill>
            <a:srgbClr val="8A5BBF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2194560"/>
            <a:ext cx="15751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85800" y="2788920"/>
            <a:ext cx="16665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 أعمال جاهزة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3474720"/>
            <a:ext cx="166658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موقع، وتقرير، وتحليل، وسيناريو.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5623560"/>
            <a:ext cx="5120640" cy="502920"/>
          </a:xfrm>
          <a:prstGeom prst="roundRect">
            <a:avLst>
              <a:gd name="adj" fmla="val 49091"/>
            </a:avLst>
          </a:prstGeom>
          <a:solidFill>
            <a:srgbClr val="EDF2FA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5623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D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الدوام اليومي: من ٧:٣٠ صباحًا حتى ١٢:٠٠ ظهرًا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reamy-wizardly-mendel/mnt/outputs/شعار-البحري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328" y="457200"/>
            <a:ext cx="1463040" cy="1755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spc="100" kern="0" dirty="0">
                <a:solidFill>
                  <a:srgbClr val="E3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العمل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83804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804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مازن بن خالد القنوبي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8048" y="3273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D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تدريب · قسم تطوير المناهج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44992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499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سالم بن سليمان السهي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49928" y="3273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D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تدريب · قسم تطوير المناهج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6180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6180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الحسين بن علي الجهوري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61808" y="3273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D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تدريب · قسم تطوير المناهج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97280" y="4297680"/>
            <a:ext cx="99971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E3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 نحو تطوير مناهج تدريبية تفاعلية ومبتكرة تلبّي احتياجات المتعلّم وتواكب التحوّل الرقمي ”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2026-07-08T12:21:19Z</dcterms:created>
  <dcterms:modified xsi:type="dcterms:W3CDTF">2026-07-08T12:21:19Z</dcterms:modified>
</cp:coreProperties>
</file>